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orientation slide. This deck summarizes the introductory Agentic AI lecture: the conceptual arc from predictive AI to agentic AI, AI-as-tool vs AI-as-worker, the Agent Factory, AI-native companies, the AI delegate, the 10-80-10 rule, and the seven golden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AI plainly: perceive → decide → act. The microwave analogy from the lecture: a normal microwave needs you to set the timer; an AI-powered one senses the food's temperature and decides on its own. Reinforce with familiar examples so the audience recognizes AI they already use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framework of the lecture. Level 1 predictive: classify/predict, yes-no outputs (spam filter, cat-or-not). Level 2 generative: produces new content and converses, remembers context. Level 3 agentic: goal in, end-to-end execution out. Stress that earlier levels still exist and are used within agentic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agentic loop from the landing-page example. The agent plans first, researches via tools, builds, tests against cases, fixes failures, and only then delivers a URL + description. Contrast with generative AI, which returns a one-shot result you must check yourself. Four capabilities make AI agentic: planning, tool use, and self-correction (iterating until the goal is met).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factory-owner email example. As a tool (generative AI), the owner gets one draft and does all the sending, tracking and analysis manually. As a worker (agentic AI), the owner just states the goal; the agent knows the business data, writes personalized emails per customer segment, schedules, sends, and tracks performance. The leverage difference is the heart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Factory = a repeatable process (design → train → ship → verify) for producing AI workers, by analogy to a garment factory producing shirts through plan/cut/stitch/QA/package. Each worker is specialized for one job. Note the cost argument: a custom specialized worker is cheaper per task and higher quality at volume than a general agent like Claude Code or Cowork.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AI-native company example: a 200-person support team becomes 190 AI workers + 10 humans promoted to supervisors. AI workers are faster, work 24/7, never tire, cost less; humans supervise and handle tricky/edge cases. Keep the distinction sharp: the factory is the process that makes workers; the AI-native company is the organization that uses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Delegate / Identical AI: a digital twin that sits above the workforce so the human isn't the bottleneck. CEO analogy: the CEO talks to one manager/PA, not every employee. You message one delegate; it coordinates the specialist workers, adopts your style and preferences, summarizes, and brings only critical decisions to you for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10-80-10 rule via the film-director analogy. First 10%: human sets direction/intent. Middle 80%: the AI worker executes. Last 10%: human verifies the final result. Three things always stay with humans: Intention, Verification, Ownership. If direction is wrong or output is approved unchecked, responsibility is the human's.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Reassurance + reframing slide. Humans aren't eliminated, they're promoted: typist→editor, coder→architect, worker→director. The mid-tier do-everything role is what gets automated. Tie back to the opening line of the lecture about leaving middle-class/mid-tier thinking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Golden Rules (non-negotiable). 1 Human always in charge. 2 Every human gets a delegate (identical AI). 3 Workforce needs a management layer. 4 Each worker uses the right engine (right-sized compute). 5 Every worker has a system of record (live company data/memory). 6 Workforce can grow only under rules (budget/scope/limits). 7 Company runs on a nervous system (workers communicate and self-recover). Tools change; these rules stay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takeaways + the self-study assignment. Recap the arc in four points. Assignment from the lecture: replicate the five-step e-commerce AI-worker example within your own domain (clear instructions → connect system of record → give skills → set guardrails/limits → test &amp; deploy) and share in the discussion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173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6431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FACTORY  ·  ORIENTATION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8529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AI Tools to AI Workers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Agentic AI — the three levels of AI, the AI-Native Company, and how humans stay in charge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walkthrough · Lecture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the ability to take in information, evaluate it, and make a decision. When we hand that decision-making to a machine, it becomes artificial intelligence.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31927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346191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place a meal inside — frozen or already-cooked.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3063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331927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346191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Pre-programmed logic picks the heating time without asking you.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63840" y="3063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19872" y="331927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518" y="346191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38160" y="3977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heats the food and delivers the result.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AI you already use:  Google Translate · social-media recommendations · autocorrect &amp; spelling prediction · ChatGPT and Claude.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315200" y="1417320"/>
            <a:ext cx="4206240" cy="1600200"/>
          </a:xfrm>
          <a:prstGeom prst="roundRect">
            <a:avLst>
              <a:gd name="adj" fmla="val 514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71232" y="167335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78" y="181599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75320" y="1664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microwave analogy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microwave becomes "AI-powered" the moment it measures temperature and decides the heating time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Levels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0456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0976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50976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examples to classify or predict. Answers in fixed buckets — yes/no, spam/not-spam, cat/not-cat.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0976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2014 · Machine Learning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187452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84" y="204569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54296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654296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— text, images, code, video. Holds a conversation, remembers context, can be asked to revise.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654296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· ChatGPT, Claude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1874520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504" y="2045696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7616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57616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8357616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goal, it plans, uses tools, acts end-to-end, and self-corrects until the outcome is reached.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357616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The Worker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and generative AI are not obsolete — they remain powerful and still run inside agentic systems.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Agent Works: Plan → Act → Self-Correct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agent a goal — "build a landing page for my new product" — and it doesn't start blindly. It runs a full loop on its own and returns a finished result.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084832" cy="242316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9032" y="28529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433" y="300032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Plan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" y="40233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goal into ordered steps.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365760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71216" y="2606040"/>
            <a:ext cx="2084832" cy="2423160"/>
          </a:xfrm>
          <a:prstGeom prst="roundRect">
            <a:avLst>
              <a:gd name="adj" fmla="val 3947"/>
            </a:avLst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30168" y="285292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569" y="300032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80944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Research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017520" y="40233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— search the web, gather info, report back.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65760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02352" y="2606040"/>
            <a:ext cx="2084832" cy="242316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861304" y="28529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05" y="3000329"/>
            <a:ext cx="272125" cy="2721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Build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248656" y="40233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work and produce the output.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65760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33488" y="2606040"/>
            <a:ext cx="2084832" cy="2423160"/>
          </a:xfrm>
          <a:prstGeom prst="roundRect">
            <a:avLst>
              <a:gd name="adj" fmla="val 3947"/>
            </a:avLst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092440" y="285292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841" y="3000329"/>
            <a:ext cx="272125" cy="2721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43216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Test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7479792" y="40233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works and integrates correctly.</a:t>
            </a:r>
            <a:endParaRPr lang="en-US" sz="11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176" y="3657600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564624" y="2606040"/>
            <a:ext cx="2084832" cy="242316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10323576" y="28529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0977" y="3000329"/>
            <a:ext cx="272125" cy="27212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674352" y="3611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Fix &amp; deliver</a:t>
            </a:r>
            <a:endParaRPr lang="en-US" sz="1500" dirty="0"/>
          </a:p>
        </p:txBody>
      </p:sp>
      <p:sp>
        <p:nvSpPr>
          <p:cNvPr id="33" name="Text 22"/>
          <p:cNvSpPr/>
          <p:nvPr/>
        </p:nvSpPr>
        <p:spPr>
          <a:xfrm>
            <a:off x="9710928" y="40233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Self-correct, then hand over the final result.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"Agentic" means to act. The agent owns the entire middle of the work — planning, research, building, testing and fixing — using its own intelligence.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Tool  vs.  AI as a Worker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55448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1985711"/>
            <a:ext cx="289682" cy="2896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828800"/>
            <a:ext cx="603504" cy="60350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31" y="198571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1847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Tool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159752" y="1847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Worker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HELP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WHOLE JOB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1440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it to draft one email.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 generic draft.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send, track, and follow up yourself.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and effort stay with you.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a goal and your intent.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your data, style and preferences.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drafts, personalizes, schedules, sends.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performance end-to-end for you.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doing the work with a tool, to directing a worker who does it for you.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Factory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factory turns raw material into products through repeatable stages. An Agent Factory does the same — it produces AI workers.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7063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9132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614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Design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worker's single job and how it should do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277063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398" y="29132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7614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Train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34290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it like an intern — steps, scope, what "good" looks like.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77063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038" y="291327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27614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Ship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83680" y="34290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 to the real world against real problems.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4400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00032" y="277063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78" y="291327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04120" y="27614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418320" y="342900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results, confirm it handles edge cases, approve.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four phases to mass-produce many specialized AI workers — exactly like producing units on a production line.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worker beats a generalist: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done expertly, at lower cost per task and higher volume than a general agent.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WORKERS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AI-Native Company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company runs its roles — marketing, sales, support, finance — with AI workers instead of mostly human staff. Don't confuse the two ideas: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2491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86755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15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Factory = a process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generate AI workers.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4688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72491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286755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715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Company = a place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46520" y="33832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those AI workers do the work.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60120" y="4224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Customer Support, transformed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96012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10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60120" y="52852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humans, now promoted to supervisors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48056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4480560" y="52852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workers handle routine queries, fast &amp; 24/7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00100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8001000" y="52852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query; tricky cases escalate to humans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WORKFORCE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AI Delegate ("Identical AI")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personally manage 20 light-speed AI workers and approve everything in time. So you build one digital twin — your AI Delegate — that coordinates them for you.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72384"/>
            <a:ext cx="548640" cy="548640"/>
          </a:xfrm>
          <a:prstGeom prst="ellipse">
            <a:avLst/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321503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2608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(CEO)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566160" y="379476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4087368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37631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08736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Delegate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66160" y="4956048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40080" y="5248656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868680" y="539496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5537606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524865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Workers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7315200" y="1508760"/>
            <a:ext cx="4206240" cy="4617720"/>
          </a:xfrm>
          <a:prstGeom prst="roundRect">
            <a:avLst>
              <a:gd name="adj" fmla="val 1957"/>
            </a:avLst>
          </a:prstGeom>
          <a:solidFill>
            <a:srgbClr val="0B2E2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7571232" y="176479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878" y="1907438"/>
            <a:ext cx="263347" cy="2633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75320" y="17556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for you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7589520" y="2423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Talks to specialist workers on your behalf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Schedules, drafts, generates reports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Adopts your writing style &amp; preferences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Summarizes 10 reports down to approve / reject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Surfaces only the critical items to you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chat with ONE delegate — it manages the rest.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OF LABOR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10–80–10 Rule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film director who sets the vision and reviews the final cut — but doesn't do every job in between — humans own the first and last 10%. The AI owns the middle 80%.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8813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728216" y="2697480"/>
            <a:ext cx="8705088" cy="1371600"/>
          </a:xfrm>
          <a:prstGeom prst="rect">
            <a:avLst/>
          </a:prstGeom>
          <a:solidFill>
            <a:srgbClr val="0B2E2C"/>
          </a:solidFill>
          <a:ln/>
        </p:spPr>
      </p:sp>
      <p:sp>
        <p:nvSpPr>
          <p:cNvPr id="7" name="Text 5"/>
          <p:cNvSpPr/>
          <p:nvPr/>
        </p:nvSpPr>
        <p:spPr>
          <a:xfrm>
            <a:off x="1728216" y="2697480"/>
            <a:ext cx="8705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80%  —  AI does the 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33304" y="2697480"/>
            <a:ext cx="108813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5097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496519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5107838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49560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5623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 what you want built.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43400" y="47091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9432" y="496519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5107838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49560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17720" y="5623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AI's output is actually good.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46720" y="47091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02752" y="496519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398" y="5107838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06840" y="49560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321040" y="5623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result — good, bad, or buggy.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Promoted, Not Replaced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do-everything work gets automated. People who direct AI well move up the value chain.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0F3B3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9443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961" y="3091769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416552" y="2697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0F3B3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29443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73" y="309176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90872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8055864" y="2697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0F3B3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29443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585" y="309176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30184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77724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the parts that matter most: direction and judgment. The AI takes over the middle 80%.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middle-class, mid-tier way of working is over. You have to become a star."  — paraphrased from the lecture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Golden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will change; these foundations don't. Like a building must have a foundation, walls and a roof, every AI workforce must satisfy all seven.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57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is always in charge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578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last 10% are human.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3639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410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282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human gets a delegate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0876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identical AI to coordinate.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5354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407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needs a manager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828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management layer above workers.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8581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6601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532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worker uses the right engine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08760" y="5952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compute to the job.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20116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73368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2157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worker has a system of record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40880" y="2578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company data &amp; memory.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13639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3368" y="3410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3282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happens under rules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408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scope and limits set.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4261104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73368" y="45354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40880" y="4407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runs on a nervous system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040880" y="4828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communicate &amp; recover.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554480"/>
          </a:xfrm>
          <a:prstGeom prst="roundRect">
            <a:avLst/>
          </a:prstGeom>
          <a:solidFill>
            <a:srgbClr val="0B2E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40080" cy="6400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901" y="669341"/>
            <a:ext cx="307238" cy="307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13055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2273198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214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788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→ Generative → Agentic. The last plans, acts and self-corrects.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8745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28232" y="213055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27319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1214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→ Worker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46520" y="2788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doing the work to directing a worker who does it for you.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429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368503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3827678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6758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+ Company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4400" y="4343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workers in the Agent Factory; run them in an AI-native company.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3429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28232" y="3685032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78" y="3827678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36758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stay in charge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46520" y="4343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10–80–10: own intention, verification and ownership. You're promoted, not replaced.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40080" y="50749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1" y="551566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9164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691640" y="555955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e-commerce worker example and replicate the five build steps inside your own domain — then share it with your discussion group.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AI Tools to AI Workers: Understanding Agentic AI</dc:title>
  <dc:subject>PptxGenJS Presentation</dc:subject>
  <dc:creator>Agent Factory Course</dc:creator>
  <cp:lastModifiedBy>Agent Factory Course</cp:lastModifiedBy>
  <cp:revision>1</cp:revision>
  <dcterms:created xsi:type="dcterms:W3CDTF">2026-06-14T05:39:26Z</dcterms:created>
  <dcterms:modified xsi:type="dcterms:W3CDTF">2026-06-14T05:39:26Z</dcterms:modified>
</cp:coreProperties>
</file>